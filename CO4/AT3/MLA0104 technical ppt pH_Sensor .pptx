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120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3894597" y="1965027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pH SENSOR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31191" y="3018453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Principles, Types, and Real-World Applications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CDD286-D12F-3746-8BAA-E942EAB60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r="8205"/>
          <a:stretch>
            <a:fillRect/>
          </a:stretch>
        </p:blipFill>
        <p:spPr bwMode="auto">
          <a:xfrm>
            <a:off x="111760" y="125404"/>
            <a:ext cx="11755120" cy="1168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43D120-7FF5-CC90-FCC9-5F6E1D824143}"/>
              </a:ext>
            </a:extLst>
          </p:cNvPr>
          <p:cNvSpPr txBox="1"/>
          <p:nvPr/>
        </p:nvSpPr>
        <p:spPr>
          <a:xfrm>
            <a:off x="8640146" y="5215812"/>
            <a:ext cx="33683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Sanjay Krishna(192525421)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084561-92A1-50B3-D7BB-88A360EC7FAB}"/>
              </a:ext>
            </a:extLst>
          </p:cNvPr>
          <p:cNvSpPr txBox="1"/>
          <p:nvPr/>
        </p:nvSpPr>
        <p:spPr>
          <a:xfrm>
            <a:off x="587829" y="5150498"/>
            <a:ext cx="2761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M. Prakash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Is a pH Sensor?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device that measures the hydrogen-ion (H⁺) activity in a solution, reporting acidity or alkalinity on the 0–14 pH scale.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Glass Membrane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258775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thin, pH-sensitive glass bulb separates the sample from an internal reference solution.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Ion Exchange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35935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H⁺ ions interact with the membrane surface, creating a small voltage proportional to pH.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8872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Voltage Reading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45994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reference electrode completes the circuit; the meter converts millivolts to a pH value.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720" y="5303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Nernst Equation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88720" y="56052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 follows ~59.16 mV per pH unit at 25°C, the theoretical Nernstian slope.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0936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pH Scale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09360" y="1371600"/>
            <a:ext cx="5892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98640" y="1371600"/>
            <a:ext cx="589280" cy="50292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87920" y="1371600"/>
            <a:ext cx="589280" cy="502920"/>
          </a:xfrm>
          <a:prstGeom prst="rect">
            <a:avLst/>
          </a:prstGeom>
          <a:solidFill>
            <a:srgbClr val="4D4D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77200" y="1371600"/>
            <a:ext cx="589280" cy="502920"/>
          </a:xfrm>
          <a:prstGeom prst="rect">
            <a:avLst/>
          </a:prstGeom>
          <a:solidFill>
            <a:srgbClr val="6666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66480" y="1371600"/>
            <a:ext cx="589280" cy="502920"/>
          </a:xfrm>
          <a:prstGeom prst="rect">
            <a:avLst/>
          </a:prstGeom>
          <a:solidFill>
            <a:srgbClr val="8080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55760" y="1371600"/>
            <a:ext cx="589280" cy="502920"/>
          </a:xfrm>
          <a:prstGeom prst="rect">
            <a:avLst/>
          </a:prstGeom>
          <a:solidFill>
            <a:srgbClr val="9999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45040" y="1371600"/>
            <a:ext cx="589280" cy="502920"/>
          </a:xfrm>
          <a:prstGeom prst="rect">
            <a:avLst/>
          </a:prstGeom>
          <a:solidFill>
            <a:srgbClr val="B3B3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34320" y="1371600"/>
            <a:ext cx="589280" cy="50292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23600" y="1371600"/>
            <a:ext cx="5892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901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03920" y="1901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(neutral)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155680" y="1901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0936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Acidic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241280" y="1097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i="1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Basic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09360" y="2377440"/>
            <a:ext cx="530352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2578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Probe Cross-Section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583680" y="3118104"/>
            <a:ext cx="109728" cy="109728"/>
          </a:xfrm>
          <a:prstGeom prst="ellipse">
            <a:avLst/>
          </a:prstGeom>
          <a:solidFill>
            <a:srgbClr val="BFBFB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 electrode wire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83680" y="3557016"/>
            <a:ext cx="109728" cy="109728"/>
          </a:xfrm>
          <a:prstGeom prst="ellipse">
            <a:avLst/>
          </a:prstGeom>
          <a:solidFill>
            <a:srgbClr val="BFBFB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35021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Internal reference solution (KCl)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583680" y="3995928"/>
            <a:ext cx="109728" cy="109728"/>
          </a:xfrm>
          <a:prstGeom prst="ellipse">
            <a:avLst/>
          </a:prstGeom>
          <a:solidFill>
            <a:srgbClr val="8C8C8C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3941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Ag/AgCl reference element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583680" y="4434840"/>
            <a:ext cx="109728" cy="109728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43799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pH-sensitive glass membrane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583680" y="4873752"/>
            <a:ext cx="109728" cy="109728"/>
          </a:xfrm>
          <a:prstGeom prst="ellipse">
            <a:avLst/>
          </a:prstGeom>
          <a:solidFill>
            <a:srgbClr val="8C8C8C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12280" y="48188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Porous junction (electrical contact)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4232" y="320040"/>
            <a:ext cx="44339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Types of pH Sensors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46120" cy="42976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Glass Electrode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465576"/>
            <a:ext cx="73152" cy="7315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3558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common &amp; accurate (±0.01 pH)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4242816"/>
            <a:ext cx="73152" cy="7315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330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Fragile; needs regular calibration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5020056"/>
            <a:ext cx="73152" cy="7315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91032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 for labs &amp; process control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0" y="1783080"/>
            <a:ext cx="3246120" cy="42976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05740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89120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ISFET (Solid-State)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89120" y="3465576"/>
            <a:ext cx="73152" cy="7315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33558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Ion-Sensitive Field-Effect Transistor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0" y="4242816"/>
            <a:ext cx="73152" cy="7315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1330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Durable, shatterproof, fast response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89120" y="5020056"/>
            <a:ext cx="73152" cy="7315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491032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Good for field &amp; portable meters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80960" y="1783080"/>
            <a:ext cx="3246120" cy="42976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2057400"/>
            <a:ext cx="502920" cy="5029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55280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Optical (Colorimetric)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55280" y="3465576"/>
            <a:ext cx="73152" cy="7315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33558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dye indicators &amp; light absorbance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955280" y="4242816"/>
            <a:ext cx="73152" cy="7315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41330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electrodes to foul or drift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955280" y="5020056"/>
            <a:ext cx="73152" cy="7315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491032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Suited to micro-volume samples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Where pH Sensors Are Used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73352"/>
            <a:ext cx="411480" cy="4114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402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 &amp; Wastewater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4672" y="2697480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Monitoring treatment plants, rivers, and drinking-water quality.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51960" y="1417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07992" y="1673352"/>
            <a:ext cx="411480" cy="4114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22402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Food &amp; Beverage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07992" y="2697480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Controlling fermentation, dairy, and quality-assurance checks.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11312" y="1673352"/>
            <a:ext cx="411480" cy="4114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22402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Agriculture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11312" y="2697480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soil and hydroponic nutrient-solution balance.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142232"/>
            <a:ext cx="411480" cy="4114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7091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Medical &amp; Pharma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4672" y="5166360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Blood gas analysis, drug formulation, and diagnostics.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51960" y="38862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7992" y="4142232"/>
            <a:ext cx="411480" cy="4114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47091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Chemical Manufacturing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07992" y="5166360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Reaction control and neutralization in process lines.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0" y="38862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1312" y="4142232"/>
            <a:ext cx="411480" cy="4114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47091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Environmental Monitoring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11312" y="5166360"/>
            <a:ext cx="2916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Tracking ocean acidification and ecosystem health.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1940" y="393192"/>
            <a:ext cx="4700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Architecture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96112" y="1604865"/>
            <a:ext cx="1874520" cy="1483559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9842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 Probe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7552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Glass electrode 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70632" y="2400300"/>
            <a:ext cx="25603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26664" y="1604865"/>
            <a:ext cx="1874520" cy="1483558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8104" y="19842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Signal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Conditioning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118104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Preamp &amp;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impedance buffer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01184" y="2400300"/>
            <a:ext cx="25603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57216" y="1604865"/>
            <a:ext cx="1874520" cy="1483558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19842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48656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Analog-to-digital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031736" y="2400300"/>
            <a:ext cx="25603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87768" y="1539553"/>
            <a:ext cx="1874520" cy="1548870"/>
          </a:xfrm>
          <a:prstGeom prst="roundRect">
            <a:avLst>
              <a:gd name="adj" fmla="val 6957"/>
            </a:avLst>
          </a:prstGeom>
          <a:solidFill>
            <a:srgbClr val="00000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19842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Microcontroller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79208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Linearization &amp;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calibration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162288" y="2400300"/>
            <a:ext cx="25603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0" y="1539553"/>
            <a:ext cx="1874520" cy="1541974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19842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Display / Output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09760" y="24414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Reading, alarms,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logging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208276" y="3520439"/>
            <a:ext cx="2377440" cy="1032895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45436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Temperature Sensor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345436" y="39227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Auto-compensation (ATC)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96996" y="2926080"/>
            <a:ext cx="0" cy="594360"/>
          </a:xfrm>
          <a:prstGeom prst="line">
            <a:avLst/>
          </a:prstGeom>
          <a:noFill/>
          <a:ln w="15875">
            <a:solidFill>
              <a:srgbClr val="8C8C8C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905756" y="3520440"/>
            <a:ext cx="2377440" cy="1032894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2916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Supply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42916" y="39227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Battery / mains regulation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94476" y="2926080"/>
            <a:ext cx="0" cy="594360"/>
          </a:xfrm>
          <a:prstGeom prst="line">
            <a:avLst/>
          </a:prstGeom>
          <a:noFill/>
          <a:ln w="15875">
            <a:solidFill>
              <a:srgbClr val="8C8C8C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603236" y="3520440"/>
            <a:ext cx="2377440" cy="1032894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40396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Calibration Buffers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40396" y="39227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2-3 point calibration input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791956" y="2926080"/>
            <a:ext cx="0" cy="594360"/>
          </a:xfrm>
          <a:prstGeom prst="line">
            <a:avLst/>
          </a:prstGeom>
          <a:noFill/>
          <a:ln w="15875">
            <a:solidFill>
              <a:srgbClr val="8C8C8C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44000" y="4729696"/>
            <a:ext cx="2423160" cy="1643111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81160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Communication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281160" y="50932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I²C / UART / Bluetooth → cloud or PLC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0355580" y="3081527"/>
            <a:ext cx="0" cy="1648169"/>
          </a:xfrm>
          <a:prstGeom prst="line">
            <a:avLst/>
          </a:prstGeom>
          <a:noFill/>
          <a:ln w="15875">
            <a:solidFill>
              <a:srgbClr val="8C8C8C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8615" y="466531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Advantages &amp; Limitations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411480" cy="4114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+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1732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2368296"/>
            <a:ext cx="82296" cy="8229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677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Fast, accurate, real-time readings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2990088"/>
            <a:ext cx="82296" cy="8229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89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Wide measurement range (0–14 pH)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8680" y="3611880"/>
            <a:ext cx="82296" cy="8229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511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Available in portable &amp; inline formats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4233672"/>
            <a:ext cx="82296" cy="8229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33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Enables automated process control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89320" y="13716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645920"/>
            <a:ext cx="411480" cy="41148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−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0" y="1664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09360" y="2368296"/>
            <a:ext cx="82296" cy="8229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2677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Glass electrodes are fragile &amp; drift over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09360" y="2990088"/>
            <a:ext cx="82296" cy="8229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889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Requires periodic calibration with buffers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09360" y="3611880"/>
            <a:ext cx="82296" cy="8229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511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Temperature affects readings (needs compensation)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0" y="4233672"/>
            <a:ext cx="82296" cy="8229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1330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Electrodes can foul in dirty samples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17</TotalTime>
  <Words>428</Words>
  <Application>Microsoft Office PowerPoint</Application>
  <PresentationFormat>Widescreen</PresentationFormat>
  <Paragraphs>105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Sanjay M</cp:lastModifiedBy>
  <cp:revision>2</cp:revision>
  <dcterms:created xsi:type="dcterms:W3CDTF">2026-08-25T06:05:10Z</dcterms:created>
  <dcterms:modified xsi:type="dcterms:W3CDTF">2026-08-25T06:23:54Z</dcterms:modified>
</cp:coreProperties>
</file>